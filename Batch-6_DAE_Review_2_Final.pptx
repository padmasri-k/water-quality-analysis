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74" r:id="rId6"/>
    <p:sldId id="295" r:id="rId7"/>
    <p:sldId id="279" r:id="rId8"/>
    <p:sldId id="283" r:id="rId9"/>
    <p:sldId id="276" r:id="rId10"/>
    <p:sldId id="280" r:id="rId11"/>
    <p:sldId id="278" r:id="rId12"/>
    <p:sldId id="271" r:id="rId13"/>
    <p:sldId id="284" r:id="rId14"/>
    <p:sldId id="281" r:id="rId15"/>
    <p:sldId id="282" r:id="rId16"/>
    <p:sldId id="268" r:id="rId17"/>
    <p:sldId id="285" r:id="rId18"/>
    <p:sldId id="286" r:id="rId19"/>
    <p:sldId id="287" r:id="rId20"/>
    <p:sldId id="288" r:id="rId21"/>
    <p:sldId id="294" r:id="rId22"/>
    <p:sldId id="292" r:id="rId23"/>
    <p:sldId id="289" r:id="rId24"/>
    <p:sldId id="290" r:id="rId25"/>
    <p:sldId id="293" r:id="rId26"/>
    <p:sldId id="291" r:id="rId27"/>
    <p:sldId id="269" r:id="rId28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49" autoAdjust="0"/>
    <p:restoredTop sz="94660"/>
  </p:normalViewPr>
  <p:slideViewPr>
    <p:cSldViewPr>
      <p:cViewPr varScale="1">
        <p:scale>
          <a:sx n="80" d="100"/>
          <a:sy n="80" d="100"/>
        </p:scale>
        <p:origin x="1531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106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780EF-FF39-A8A1-5847-18BC29424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0D317C-0B32-7854-AA72-2404997A97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B68F8F-6DC7-A2C8-2F21-B29A613BE1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24CD83-FF54-06EB-830E-22896DAF53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1052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1E0C1-6277-CAD3-8A7C-7F0F37C61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3776A0-3BEE-1FDC-EADA-6B6FA1E1A0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753676-942B-2284-A56F-CCE051D8DD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8B2BB-B290-5A6F-7542-202146F1BA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576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png"/><Relationship Id="rId7" Type="http://schemas.openxmlformats.org/officeDocument/2006/relationships/image" Target="../media/image3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1076308"/>
            <a:ext cx="7467599" cy="10125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90"/>
              </a:spcBef>
            </a:pP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Essentials Cornerstone Project</a:t>
            </a:r>
            <a:b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Review</a:t>
            </a:r>
            <a:endParaRPr sz="2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53494" y="2514600"/>
            <a:ext cx="8751412" cy="336117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400" dirty="0"/>
              <a:t>Water Quality Data Analysis System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2200" spc="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IN" sz="22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sz="9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 err="1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Kantiboina</a:t>
            </a: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Padmasri Krupa  -  25B11CS396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Nallamilli Savitha                     -  25B11CS650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Padala Lahari                           -  25B11CS689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 err="1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Koppisetti</a:t>
            </a: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Sivani                      -  25B11CS467</a:t>
            </a: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endParaRPr lang="en-IN" sz="2000" spc="-10" dirty="0">
              <a:solidFill>
                <a:srgbClr val="17375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r>
              <a:rPr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z="2200" spc="-6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Computer Science and Engineering</a:t>
            </a:r>
            <a:endParaRPr lang="en-IN" sz="165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00733" y="696567"/>
            <a:ext cx="6361780" cy="750077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Problem Statement </a:t>
            </a:r>
          </a:p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Objectives</a:t>
            </a:r>
          </a:p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Overflow</a:t>
            </a:r>
          </a:p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Selection and Understanding</a:t>
            </a:r>
          </a:p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Attributes</a:t>
            </a:r>
          </a:p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Source</a:t>
            </a:r>
          </a:p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Collection and Import</a:t>
            </a:r>
          </a:p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Initial Dataset Understanding</a:t>
            </a:r>
          </a:p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Missing Value Handling</a:t>
            </a:r>
          </a:p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Duplicate Record Handling</a:t>
            </a:r>
          </a:p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Outlier Detection and Handling</a:t>
            </a:r>
          </a:p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Types and Preprocessing Decisions</a:t>
            </a:r>
          </a:p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Preprocessing Summary</a:t>
            </a:r>
          </a:p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Exploratory Data Analysis</a:t>
            </a:r>
          </a:p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Statistical Analysis</a:t>
            </a:r>
          </a:p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Water Quality Analysis by Location</a:t>
            </a:r>
          </a:p>
          <a:p>
            <a:pPr marL="389890" indent="-377190"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Water Quality Classification</a:t>
            </a:r>
          </a:p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 Distribution Analysis</a:t>
            </a:r>
          </a:p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TDS vs pH Analysis</a:t>
            </a:r>
          </a:p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 Results</a:t>
            </a:r>
          </a:p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Conclusion &amp; Future Enhancements</a:t>
            </a:r>
          </a:p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endParaRPr lang="en-IN" sz="2400" spc="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object 3"/>
          <p:cNvGrpSpPr/>
          <p:nvPr/>
        </p:nvGrpSpPr>
        <p:grpSpPr>
          <a:xfrm>
            <a:off x="2495887" y="29493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/>
          <p:cNvSpPr txBox="1">
            <a:spLocks/>
          </p:cNvSpPr>
          <p:nvPr/>
        </p:nvSpPr>
        <p:spPr>
          <a:xfrm>
            <a:off x="3124200" y="286092"/>
            <a:ext cx="3733800" cy="32444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30"/>
              </a:spcBef>
            </a:pP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667000" y="53695"/>
            <a:ext cx="5103904" cy="1198311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114800" y="325191"/>
            <a:ext cx="23964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1B5A0518-1CDA-CA94-327E-0995E9EC2B8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71F55BA-986F-654A-5E2D-6EB3BA46572D}"/>
              </a:ext>
            </a:extLst>
          </p:cNvPr>
          <p:cNvSpPr txBox="1"/>
          <p:nvPr/>
        </p:nvSpPr>
        <p:spPr>
          <a:xfrm>
            <a:off x="723900" y="1185265"/>
            <a:ext cx="89535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quality is essential for human health, aquatic ecosystems, and environmental sustainability.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influenced by important parameters such as pH, turbidity, dissolved oxygen, and TDS.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water-quality data can be difficult to interpret without systematic analysis.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uses Python and data-analysis techniques to examine water-quality observations.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focuses on understanding water-quality parameters and variations across sampling locations.</a:t>
            </a:r>
          </a:p>
          <a:p>
            <a:pPr algn="just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3505200" y="344896"/>
            <a:ext cx="34290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851B59-AD5A-81AD-7D42-C1CD5E589B58}"/>
              </a:ext>
            </a:extLst>
          </p:cNvPr>
          <p:cNvSpPr txBox="1"/>
          <p:nvPr/>
        </p:nvSpPr>
        <p:spPr>
          <a:xfrm>
            <a:off x="723900" y="1437175"/>
            <a:ext cx="8610600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quality can vary significantly across different sampling locations and time periods due to changes in physical and chemical conditions.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parameters such as pH, turbidity, dissolved oxygen, and TDS provide valuable information about the condition of water, but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parameters individually can make it difficult to understand the overall water-quality condition. 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water-quality datasets may also contain missing, duplicate, or inconsistent observations, which can affect the reliability of analysis. 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a systematic data-analysis approach is required to clean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data, identify variations and patterns, and provide meaningful insights into water quality across different locations.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42672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EA2366-D5A3-7AD8-E7B4-472C3227ADC8}"/>
              </a:ext>
            </a:extLst>
          </p:cNvPr>
          <p:cNvSpPr txBox="1"/>
          <p:nvPr/>
        </p:nvSpPr>
        <p:spPr>
          <a:xfrm>
            <a:off x="762000" y="1373688"/>
            <a:ext cx="8534400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To </a:t>
            </a:r>
            <a:r>
              <a:rPr lang="en-IN" dirty="0" err="1"/>
              <a:t>analyze</a:t>
            </a:r>
            <a:r>
              <a:rPr lang="en-IN" dirty="0"/>
              <a:t> water-quality data collected from different sampling locations. </a:t>
            </a:r>
          </a:p>
          <a:p>
            <a:pPr lvl="0"/>
            <a:endParaRPr lang="en-IN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To study key water-quality parameters such as pH, turbidity, dissolved oxygen (DO), and TDS. </a:t>
            </a:r>
          </a:p>
          <a:p>
            <a:pPr lvl="0"/>
            <a:endParaRPr lang="en-IN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To clean and preprocess the dataset by handling missing values, duplicate records, and potential outliers. </a:t>
            </a:r>
          </a:p>
          <a:p>
            <a:pPr lvl="0"/>
            <a:endParaRPr lang="en-IN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To compare water-quality conditions across different locations. </a:t>
            </a:r>
          </a:p>
          <a:p>
            <a:pPr lvl="0"/>
            <a:endParaRPr lang="en-IN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To identify patterns, trends, and relationships among important water-quality parameters. </a:t>
            </a:r>
          </a:p>
          <a:p>
            <a:pPr lvl="0"/>
            <a:endParaRPr lang="en-IN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To create meaningful visualizations for better understanding and interpretation of the data. </a:t>
            </a:r>
          </a:p>
          <a:p>
            <a:pPr lvl="0"/>
            <a:endParaRPr lang="en-IN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To assess the overall water-quality condition using the available water-quality classification and WQI. </a:t>
            </a:r>
          </a:p>
          <a:p>
            <a:pPr lvl="0"/>
            <a:endParaRPr lang="en-IN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To provide a foundation for future water-quality prediction using machine-learning techniques.</a:t>
            </a:r>
          </a:p>
          <a:p>
            <a:pPr>
              <a:spcBef>
                <a:spcPts val="1200"/>
              </a:spcBef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83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8F02C-894F-2C5F-6285-25BA0B5C6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5369DBA4-4515-146A-D502-1A891C1D3FBC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D27382F3-D4C2-0A6B-B069-6E6F9D346EA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97605D0-5955-CD47-6A92-8A806EFC46B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23007D2D-25CD-827A-96F6-75D3BD58AF3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6373C9B-2E08-0BE7-366F-0DF1FB3C437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65F72E7B-A22B-DC7A-D2A7-D36D6B12E820}"/>
              </a:ext>
            </a:extLst>
          </p:cNvPr>
          <p:cNvSpPr txBox="1"/>
          <p:nvPr/>
        </p:nvSpPr>
        <p:spPr>
          <a:xfrm>
            <a:off x="3657600" y="320752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WORKFLOW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572EEC-5F40-2AB4-6EC9-F3F3571A951B}"/>
              </a:ext>
            </a:extLst>
          </p:cNvPr>
          <p:cNvSpPr txBox="1"/>
          <p:nvPr/>
        </p:nvSpPr>
        <p:spPr>
          <a:xfrm>
            <a:off x="762000" y="1373688"/>
            <a:ext cx="853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30D23177-280C-472F-BDDD-A2A66EF1F96A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048550E-1F2B-8C22-FC4A-6120B546B2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2650" y="942501"/>
            <a:ext cx="9615251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920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25B97-4948-1D36-1564-48F015098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6429C0E-D3D9-C6CC-7313-83F33EFBCF19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D28B387B-EB3D-FC8A-3A51-DDD2B8696A7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0BF9C151-6931-0562-6296-36A46D946174}"/>
              </a:ext>
            </a:extLst>
          </p:cNvPr>
          <p:cNvGrpSpPr/>
          <p:nvPr/>
        </p:nvGrpSpPr>
        <p:grpSpPr>
          <a:xfrm>
            <a:off x="1905000" y="38084"/>
            <a:ext cx="7010400" cy="1198311"/>
            <a:chOff x="2152139" y="-178622"/>
            <a:chExt cx="7010400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9B06DA94-486C-BE04-CE2A-5A3724EF736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52139" y="-178622"/>
              <a:ext cx="6934200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90745483-8D72-9550-2D21-D6CDF32E5C9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28339" y="-135131"/>
              <a:ext cx="6934200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7C1BF1A5-A449-F0CA-5752-30E9D14F74D4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99789" y="29127"/>
              <a:ext cx="6438900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07841AFE-441A-3263-3DF1-0FBB421F6529}"/>
                </a:ext>
              </a:extLst>
            </p:cNvPr>
            <p:cNvSpPr/>
            <p:nvPr/>
          </p:nvSpPr>
          <p:spPr>
            <a:xfrm>
              <a:off x="2473964" y="55560"/>
              <a:ext cx="6290549" cy="45333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F110E46-CABB-471D-3A55-B7F91865F1E2}"/>
              </a:ext>
            </a:extLst>
          </p:cNvPr>
          <p:cNvSpPr txBox="1"/>
          <p:nvPr/>
        </p:nvSpPr>
        <p:spPr>
          <a:xfrm>
            <a:off x="2781300" y="309458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SELECTION AND UNDERSTANDING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5B9DC4-BEBD-4135-EC38-A9E86433BB19}"/>
              </a:ext>
            </a:extLst>
          </p:cNvPr>
          <p:cNvSpPr txBox="1"/>
          <p:nvPr/>
        </p:nvSpPr>
        <p:spPr>
          <a:xfrm>
            <a:off x="800100" y="1043226"/>
            <a:ext cx="8458200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was selected because it provides real-world water-quality observations suitable for our analysis.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contains the key parameters required for the project, including pH, turbidity, dissolved oxygen (DO), and TDS.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includes sampling-site information, allowing us to compare water quality across different locations. 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provides WQI and Water Quality classification, which help us understand the overall condition of the water.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103 observations and 21 attributes, providing multiple parameters for analysis.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attributes include both numerical measurements and categorical information.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parameters such as temperature, conductivity, TSS, BOD, TN, and TP provide opportunities for further analysis.</a:t>
            </a:r>
          </a:p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6336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12DC6-D15A-BCCD-DBAF-3C7CE102C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D1EA9A87-01C5-8785-EC13-8698964AF0E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33629C96-A0B4-1825-ADF2-869497FE55A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127C402A-BDE1-BE55-9892-7D78E4610CF1}"/>
              </a:ext>
            </a:extLst>
          </p:cNvPr>
          <p:cNvGrpSpPr/>
          <p:nvPr/>
        </p:nvGrpSpPr>
        <p:grpSpPr>
          <a:xfrm>
            <a:off x="1905000" y="38084"/>
            <a:ext cx="7010400" cy="1198311"/>
            <a:chOff x="2152139" y="-178622"/>
            <a:chExt cx="7010400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9F95BF54-0F49-51C6-5108-5795A8D777D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52139" y="-178622"/>
              <a:ext cx="6934200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71585F16-2F97-E339-66B6-D92C3F244CA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28339" y="-135131"/>
              <a:ext cx="6934200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8A9D5C9F-8134-A6F1-85CB-BA88E6EC6616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99789" y="29127"/>
              <a:ext cx="6438900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0EFAA533-E11C-48B2-6D32-F41D62FE5C18}"/>
                </a:ext>
              </a:extLst>
            </p:cNvPr>
            <p:cNvSpPr/>
            <p:nvPr/>
          </p:nvSpPr>
          <p:spPr>
            <a:xfrm>
              <a:off x="2473964" y="55560"/>
              <a:ext cx="6290549" cy="45333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BAEBC5C-3858-1B42-BD1A-10341CE20761}"/>
              </a:ext>
            </a:extLst>
          </p:cNvPr>
          <p:cNvSpPr txBox="1"/>
          <p:nvPr/>
        </p:nvSpPr>
        <p:spPr>
          <a:xfrm>
            <a:off x="3810000" y="309458"/>
            <a:ext cx="43053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ATTRIBUTES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23E922-4E35-FCBC-0C56-F1D268271B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003454"/>
            <a:ext cx="9220200" cy="650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086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ANALYSIS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AF1E54F9-D994-384E-8C37-1C93452235A6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93BE96D3-0E2D-D699-681F-C3F77C30D88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8C05BEDC-CF1B-4736-D20C-24DEF6B9D7C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F129902F-C23B-4E23-EBD1-88F90D3327E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34F4361D-4BC0-FC12-681A-D650F780FCD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D22E701-AF00-3E4A-78B7-CAD74B7C1A09}"/>
              </a:ext>
            </a:extLst>
          </p:cNvPr>
          <p:cNvSpPr txBox="1"/>
          <p:nvPr/>
        </p:nvSpPr>
        <p:spPr>
          <a:xfrm>
            <a:off x="4038600" y="332823"/>
            <a:ext cx="4038600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DATASOURCE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1D8EED-061A-636E-CAF4-04421F557133}"/>
              </a:ext>
            </a:extLst>
          </p:cNvPr>
          <p:cNvSpPr txBox="1"/>
          <p:nvPr/>
        </p:nvSpPr>
        <p:spPr>
          <a:xfrm>
            <a:off x="685800" y="1283318"/>
            <a:ext cx="82296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Source:</a:t>
            </a:r>
            <a:r>
              <a:rPr lang="en-IN" dirty="0"/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PANGAEA – Data Publisher for Earth &amp; Environmental Science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Water-quality observations from the Yucatán Peninsula, Mexico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file format: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.tab (tab-delimited)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.tab file was converted into CSV format for easier processing.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CSV file was then used for analysis in Google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Python and Pandas.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256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4944C-8816-A98A-BE5A-6A28E3D13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CA7EE8-74F6-AF36-B9E5-7578E1237183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97977331-EA1C-CA44-869F-6C400FF95B9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3" name="object 3">
            <a:extLst>
              <a:ext uri="{FF2B5EF4-FFF2-40B4-BE49-F238E27FC236}">
                <a16:creationId xmlns:a16="http://schemas.microsoft.com/office/drawing/2014/main" id="{746D99A6-88A2-675D-9178-750AABC07C39}"/>
              </a:ext>
            </a:extLst>
          </p:cNvPr>
          <p:cNvGrpSpPr/>
          <p:nvPr/>
        </p:nvGrpSpPr>
        <p:grpSpPr>
          <a:xfrm>
            <a:off x="1905000" y="38084"/>
            <a:ext cx="7010400" cy="1198311"/>
            <a:chOff x="2152139" y="-178622"/>
            <a:chExt cx="7010400" cy="1198311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1C8F64D-AFCA-E33C-A57D-0ADFBC43BBE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52139" y="-178622"/>
              <a:ext cx="6934200" cy="1198311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E492A389-80F5-883B-4D48-238B6E84B12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28339" y="-135131"/>
              <a:ext cx="6934200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E53D2DE6-B97D-4AB2-3E84-3B13BC54352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99789" y="29127"/>
              <a:ext cx="6438900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A2FFC3A4-6B37-361E-4634-C63B14A870F2}"/>
                </a:ext>
              </a:extLst>
            </p:cNvPr>
            <p:cNvSpPr/>
            <p:nvPr/>
          </p:nvSpPr>
          <p:spPr>
            <a:xfrm>
              <a:off x="2473964" y="55560"/>
              <a:ext cx="6290549" cy="45333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FD9A846-5779-F48F-4A30-6B0737A5C582}"/>
              </a:ext>
            </a:extLst>
          </p:cNvPr>
          <p:cNvSpPr txBox="1"/>
          <p:nvPr/>
        </p:nvSpPr>
        <p:spPr>
          <a:xfrm>
            <a:off x="3305176" y="298880"/>
            <a:ext cx="54101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AND IMPORT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66F33C-D5D2-3831-B245-ADE8CF103A8D}"/>
              </a:ext>
            </a:extLst>
          </p:cNvPr>
          <p:cNvSpPr txBox="1"/>
          <p:nvPr/>
        </p:nvSpPr>
        <p:spPr>
          <a:xfrm>
            <a:off x="457200" y="1173854"/>
            <a:ext cx="922020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 — Dataset Collection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Obtained the water-quality dataset from PANGAEA.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dataset was available in .tab (tab-delimited) format. 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— File Preparation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the .tab file into CSV format.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the CSV file in Google Drive for easy access through Google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 — Dataset Import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Mounted Google Drive in Google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Imported the CSV file using the Pandas library.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Loaded the dataset into a Pandas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further processing.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pandas as pd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#Load dataset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ata =</a:t>
            </a:r>
          </a:p>
          <a:p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pd.read_csv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("/content/drive/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MyDrive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Water_Quality_Data_Analysis_System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/Conagua_2012-202.csv")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print(data)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0378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648188" y="282892"/>
              <a:ext cx="5052774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2895600" y="304800"/>
            <a:ext cx="6220063" cy="404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 DATASET UNDERSTANDING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63ECEE7-636D-562B-C021-2625056989DD}"/>
              </a:ext>
            </a:extLst>
          </p:cNvPr>
          <p:cNvSpPr txBox="1"/>
          <p:nvPr/>
        </p:nvSpPr>
        <p:spPr>
          <a:xfrm>
            <a:off x="457200" y="876464"/>
            <a:ext cx="6172200" cy="7078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Total observations:</a:t>
            </a:r>
            <a:r>
              <a:rPr lang="en-IN" dirty="0"/>
              <a:t> 103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Total attributes:</a:t>
            </a:r>
            <a:r>
              <a:rPr lang="en-IN" dirty="0"/>
              <a:t> 21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Sampling locations:</a:t>
            </a:r>
            <a:r>
              <a:rPr lang="en-IN" dirty="0"/>
              <a:t> 12 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Dataset contains numerical and categorical attributes. 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Used head() to view the first few records. 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Used info() to examine: </a:t>
            </a:r>
          </a:p>
          <a:p>
            <a:pPr lvl="0"/>
            <a:r>
              <a:rPr lang="en-IN" dirty="0"/>
              <a:t>         Column names </a:t>
            </a:r>
          </a:p>
          <a:p>
            <a:pPr lvl="1"/>
            <a:r>
              <a:rPr lang="en-IN" dirty="0"/>
              <a:t>         Data types </a:t>
            </a:r>
          </a:p>
          <a:p>
            <a:pPr lvl="1"/>
            <a:r>
              <a:rPr lang="en-IN" dirty="0"/>
              <a:t>         Non-null values </a:t>
            </a:r>
          </a:p>
          <a:p>
            <a:pPr lvl="1"/>
            <a:endParaRPr lang="en-IN" dirty="0"/>
          </a:p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en-IN" dirty="0"/>
              <a:t>Used describe() to obtain statistical information such as: </a:t>
            </a:r>
          </a:p>
          <a:p>
            <a:pPr lvl="1"/>
            <a:r>
              <a:rPr lang="en-IN" dirty="0"/>
              <a:t>         Mean </a:t>
            </a:r>
          </a:p>
          <a:p>
            <a:pPr lvl="1"/>
            <a:r>
              <a:rPr lang="en-IN" dirty="0"/>
              <a:t>         Standard deviation </a:t>
            </a:r>
          </a:p>
          <a:p>
            <a:pPr lvl="1"/>
            <a:r>
              <a:rPr lang="en-IN" dirty="0"/>
              <a:t>         Minimum and maximum values </a:t>
            </a:r>
          </a:p>
          <a:p>
            <a:pPr lvl="1"/>
            <a:r>
              <a:rPr lang="en-IN" dirty="0"/>
              <a:t>         Quartiles</a:t>
            </a:r>
          </a:p>
          <a:p>
            <a:pPr lvl="1"/>
            <a:endParaRPr lang="en-IN" dirty="0"/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:</a:t>
            </a:r>
          </a:p>
          <a:p>
            <a:r>
              <a:rPr lang="en-IN" sz="1800" dirty="0" err="1"/>
              <a:t>data.head</a:t>
            </a:r>
            <a:r>
              <a:rPr lang="en-IN" sz="1800" dirty="0"/>
              <a:t>()</a:t>
            </a:r>
          </a:p>
          <a:p>
            <a:r>
              <a:rPr lang="en-IN" sz="1800" dirty="0" err="1"/>
              <a:t>data.shape</a:t>
            </a:r>
            <a:endParaRPr lang="en-IN" sz="1800" dirty="0"/>
          </a:p>
          <a:p>
            <a:r>
              <a:rPr lang="en-IN" sz="1800" dirty="0"/>
              <a:t>data.info()</a:t>
            </a:r>
          </a:p>
          <a:p>
            <a:r>
              <a:rPr lang="en-IN" sz="1800" dirty="0" err="1"/>
              <a:t>data.describe</a:t>
            </a:r>
            <a:r>
              <a:rPr lang="en-IN" sz="1800" dirty="0"/>
              <a:t>()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525A48-D1FD-1D50-8BC4-CF441025A3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1905000"/>
            <a:ext cx="3200400" cy="4397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052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21ABBE52-8710-4E6B-00A1-6AE2E264A905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BB01548A-FFE9-E3D8-12A9-78CF2115655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C2274CD8-F01F-9319-4AED-E01AFBB7B3F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798807C2-A29E-0BF3-6CFE-592456DB3D5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0012A6F5-DCDD-5346-54A8-BF352762053D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3953B3A5-B246-55AD-515B-436ED9F0D0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95600" y="432593"/>
            <a:ext cx="4191000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MISSING VALUES HANDLING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A01798C2-99DE-A723-BAF6-CF11F4E8C1FC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C329564-375B-D5F4-AF7A-98E7DE1651E8}"/>
              </a:ext>
            </a:extLst>
          </p:cNvPr>
          <p:cNvSpPr txBox="1"/>
          <p:nvPr/>
        </p:nvSpPr>
        <p:spPr>
          <a:xfrm>
            <a:off x="571500" y="1037173"/>
            <a:ext cx="8839200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were checked for all attributes using Pandas.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total of 52 missing entries were identified across 7 attributes.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were present in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a, BOD, pH, DO, TSS, Turbidity, and TI.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numerical values were handled using median imputation.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 imputation was selected because it is less affected by extreme values.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imputation, the dataset was checked again.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missing-value counts became 0.</a:t>
            </a:r>
          </a:p>
          <a:p>
            <a:r>
              <a:rPr lang="en-IN" b="1" dirty="0"/>
              <a:t>Code :</a:t>
            </a:r>
          </a:p>
          <a:p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data.isnull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().sum() </a:t>
            </a:r>
          </a:p>
          <a:p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data_clean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data.copy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columns_to_fill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'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[mg/m**3]',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'BOD [mg/l]',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'pH',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'DO [mg/l]',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'TSS [mg/l]',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'Turbidity [NTU]',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'TI’]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4958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71D2A-0CB2-F94E-38DC-F9B8A7247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1F46F2F5-C2E5-4323-FCFC-FCC97F679585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BAF1A6A7-4593-90AD-03B4-85FB76E11A9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17C4507D-FE46-720A-6F7E-2316A587801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4B4F21CF-BBA8-A14F-CB60-2B0520C2037D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C4B6A36B-4AFE-44FB-569E-69B246A89906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80AA01D3-5122-CA2F-F98A-5F52DDEA15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95600" y="432593"/>
            <a:ext cx="4191000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MISSING VALUES HANDLING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0C9F1895-AC52-A748-B1A5-0E9DC9654139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0C49823-4776-B014-90D8-CFF14C4D738C}"/>
              </a:ext>
            </a:extLst>
          </p:cNvPr>
          <p:cNvSpPr txBox="1"/>
          <p:nvPr/>
        </p:nvSpPr>
        <p:spPr>
          <a:xfrm>
            <a:off x="571500" y="930429"/>
            <a:ext cx="883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column in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columns_to_fill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data_clean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[column] =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data_clean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[column].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fillna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data_clean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[column].median())</a:t>
            </a:r>
          </a:p>
          <a:p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data_clean.isnull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().sum()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8089B7-5B1B-F7B0-64ED-B46C0190E51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128740"/>
            <a:ext cx="2857500" cy="55861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D7406EF-FFA9-37CF-9B96-89167FD43F7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2110995"/>
            <a:ext cx="2857499" cy="5470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041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BE1A7-3004-3B9A-3BDF-6F0CD676F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D8057B3F-5DAB-DD41-AECE-F331B855040E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2087F558-D85F-5AC0-F454-1F63CE0A07E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DA168F22-39BB-5B7D-3CF6-D85FE785C62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37D54020-DB2F-8565-330C-84D2218CC66C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9E7A54A0-4068-FC5A-C8B6-7CD6DED089A8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5F015672-148D-A104-60CF-C6A88B1949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09900" y="470272"/>
            <a:ext cx="4038600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DUPLICATE RECORD HANDLING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A6C365DC-19B7-1764-968A-F9C87D5E4951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D4B64F4-A7BB-5C66-D262-C3B30131FC70}"/>
              </a:ext>
            </a:extLst>
          </p:cNvPr>
          <p:cNvSpPr txBox="1"/>
          <p:nvPr/>
        </p:nvSpPr>
        <p:spPr>
          <a:xfrm>
            <a:off x="533400" y="1031498"/>
            <a:ext cx="8610599" cy="7786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records were checked after handling the missing values.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was examined for completely duplicated rows.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duplicate records were found.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no rows were removed during this step.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cleaned dataset was retained without any duplicate-related changes.</a:t>
            </a:r>
          </a:p>
          <a:p>
            <a:pPr lvl="0"/>
            <a:endParaRPr lang="en-IN" sz="2000" dirty="0"/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: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data_clean.duplicated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().sum()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data_clean.shape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</a:p>
          <a:p>
            <a:pPr lvl="0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np.int64(0)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(103, 21)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IN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744217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36072-48CF-7A07-3283-0CB79F29A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1D05E8A7-0BAB-CD52-0FC4-DBD8F083248D}"/>
              </a:ext>
            </a:extLst>
          </p:cNvPr>
          <p:cNvGrpSpPr/>
          <p:nvPr/>
        </p:nvGrpSpPr>
        <p:grpSpPr>
          <a:xfrm>
            <a:off x="2362200" y="152400"/>
            <a:ext cx="5218952" cy="1198311"/>
            <a:chOff x="2533140" y="47148"/>
            <a:chExt cx="5218952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2B30C952-F60A-FB38-53A3-CC89BA08827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7866CFA0-4F50-28F0-EFC2-86D038EB211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3F09A4D8-A400-E0F8-0CA6-063B8B882E6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F8E97D79-7FA8-D140-E726-79CFA9A5B812}"/>
                </a:ext>
              </a:extLst>
            </p:cNvPr>
            <p:cNvSpPr/>
            <p:nvPr/>
          </p:nvSpPr>
          <p:spPr>
            <a:xfrm>
              <a:off x="2533140" y="282892"/>
              <a:ext cx="5218951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E0F701E1-161B-537E-CE8F-F2E5197F40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77247" y="432593"/>
            <a:ext cx="4914153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OUTLIER DETECTION AND HANDLING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F12DBFE6-BE52-C24E-9E8E-C14765A305F3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1487C7-C4F8-F808-589B-A9EB4D657E6B}"/>
              </a:ext>
            </a:extLst>
          </p:cNvPr>
          <p:cNvSpPr txBox="1"/>
          <p:nvPr/>
        </p:nvSpPr>
        <p:spPr>
          <a:xfrm>
            <a:off x="685800" y="1350711"/>
            <a:ext cx="868680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Outliers were identified using Box Plot and IQR methods.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outliers were detected in pH, Turbidity, and TDS, while no outliers were detected in DO and WQI.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Detected values were examined and retained as they may represent genuine water-quality variations.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columns = [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'pH',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'Turbidity [NTU]',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'DO [mg/l]',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'TDS [mg/l]',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'WQI']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column in columns: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plt.figure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figsize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=(6, 4))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plt.boxplot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data_clean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[column].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dropna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plt.title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f'Box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Plot of {column}')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plt.ylabel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(column)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plt.show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lvl="0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75FB3C-2CE6-3CE0-C489-D8B4250021C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5061" y="3148525"/>
            <a:ext cx="2350000" cy="3352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7F4F3F-B392-9B57-8935-57F85D49574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400" y="3148525"/>
            <a:ext cx="2419725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0597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20B8B724-A73F-F006-222B-6A4FF27EB83E}"/>
              </a:ext>
            </a:extLst>
          </p:cNvPr>
          <p:cNvGrpSpPr/>
          <p:nvPr/>
        </p:nvGrpSpPr>
        <p:grpSpPr>
          <a:xfrm>
            <a:off x="2263753" y="155643"/>
            <a:ext cx="5530893" cy="1198311"/>
            <a:chOff x="2456940" y="47148"/>
            <a:chExt cx="5530893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8D96FE08-6C48-29F6-B8BF-733A1FE4EFC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F663E0BF-F2C3-9990-10F0-85152F3B749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AF92C391-8A67-101D-C7DE-D42721562E9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5C67209A-2109-EE49-1C12-165FDE2056AC}"/>
                </a:ext>
              </a:extLst>
            </p:cNvPr>
            <p:cNvSpPr/>
            <p:nvPr/>
          </p:nvSpPr>
          <p:spPr>
            <a:xfrm>
              <a:off x="2456940" y="282892"/>
              <a:ext cx="5530893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F513CBE2-66AF-A982-0CC5-B24C79BA95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16145" y="441289"/>
            <a:ext cx="4997767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OUTLIER DETECTION AND HANDLING 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A2CEDFE4-2383-831F-CDEE-1CF3B0215E1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57FE392-C3E3-F4CF-17F0-E24FBA9225CE}"/>
              </a:ext>
            </a:extLst>
          </p:cNvPr>
          <p:cNvSpPr txBox="1"/>
          <p:nvPr/>
        </p:nvSpPr>
        <p:spPr>
          <a:xfrm>
            <a:off x="609601" y="859815"/>
            <a:ext cx="5103904" cy="7509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column in columns: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Q1 =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data_clean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[column].quantile(0.25)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Q3 =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data_clean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[column].quantile(0.75)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IQR = Q3 - Q1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lower_bound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Q1 - 1.5 * IQR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upper_bound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Q3 + 1.5 * IQR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outliers =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data_clean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data_clean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[column] &lt;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lower_bound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|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data_clean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[column] &gt;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upper_bound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)]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print(f"{column}: {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(outliers)} outliers")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columns = [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'pH',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'Turbidity [NTU]',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'DO [mg/l]',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'TDS [mg/l]',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'WQI']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column in columns: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Q1 =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data_clean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[column].quantile(0.25)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Q3 =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data_clean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[column].quantile(0.75)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IQR = Q3 - Q1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lower_bound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Q1 - 1.5 * IQR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upper_bound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Q3 + 1.5 * IQR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outliers =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data_clean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data_clean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[column] &lt;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lower_bound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|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data_clean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[column] &gt;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upper_bound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][[column]]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print("\n", column)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print(outliers)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30F603-1660-D3B5-BAA6-13852EE8B2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4753" y="1215188"/>
            <a:ext cx="2187130" cy="80779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BA2DEB4-DAEB-9EE0-4A94-F86EA77CD91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4752" y="2209801"/>
            <a:ext cx="2477247" cy="536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192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81C9D-6C51-F1E2-23AC-3611AE248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1F85B787-DAEC-01DE-8520-5A41BDAF5464}"/>
              </a:ext>
            </a:extLst>
          </p:cNvPr>
          <p:cNvGrpSpPr/>
          <p:nvPr/>
        </p:nvGrpSpPr>
        <p:grpSpPr>
          <a:xfrm>
            <a:off x="1752600" y="155643"/>
            <a:ext cx="6781800" cy="1198311"/>
            <a:chOff x="1945787" y="47148"/>
            <a:chExt cx="6781800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89246F2D-17EA-AC46-60FB-983CB0C442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4C45A216-34AC-09E7-62B8-AAB00EAB9FE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917B6C98-5822-78CD-4FBF-49805F8003A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BC4A7991-C16A-74B9-CA29-11B2459B0471}"/>
                </a:ext>
              </a:extLst>
            </p:cNvPr>
            <p:cNvSpPr/>
            <p:nvPr/>
          </p:nvSpPr>
          <p:spPr>
            <a:xfrm>
              <a:off x="1945787" y="282892"/>
              <a:ext cx="678180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A5E1CC39-8B24-9139-43D0-0BE75F5DB9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09801" y="432811"/>
            <a:ext cx="6095999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TYPES AND PREPROCESSING DECISIONS 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A392491A-5336-E6E7-49EC-E14EC7ABE598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2E8CB8-828B-992F-D24B-36E110ECD210}"/>
              </a:ext>
            </a:extLst>
          </p:cNvPr>
          <p:cNvSpPr txBox="1"/>
          <p:nvPr/>
        </p:nvSpPr>
        <p:spPr>
          <a:xfrm>
            <a:off x="990600" y="1353954"/>
            <a:ext cx="54102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types of all attributes were checked.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attributes were retained in numerical form.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 attributes such as Site and Water quality were identified.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Encoding was not required for the current analysis.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scaling was not required for the current descriptive analysis.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is now ready for the next stage of analysis.</a:t>
            </a:r>
          </a:p>
          <a:p>
            <a:endParaRPr lang="en-IN" dirty="0"/>
          </a:p>
          <a:p>
            <a:r>
              <a:rPr lang="en-IN" b="1" dirty="0"/>
              <a:t>Code :</a:t>
            </a:r>
          </a:p>
          <a:p>
            <a:endParaRPr lang="en-IN" b="1" dirty="0"/>
          </a:p>
          <a:p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data_clean.dtypes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D79A33-069E-93FA-6855-68C0BB8C42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5034" y="913952"/>
            <a:ext cx="2530059" cy="6843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4548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6A2F3-DF4D-3001-BD55-C60E1E078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CC2B5382-9714-A279-D4D9-662A5973D02C}"/>
              </a:ext>
            </a:extLst>
          </p:cNvPr>
          <p:cNvGrpSpPr/>
          <p:nvPr/>
        </p:nvGrpSpPr>
        <p:grpSpPr>
          <a:xfrm>
            <a:off x="2455001" y="155643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CF35B7A8-0070-D2CA-6E26-E495F8A9498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A40E1058-B21D-2E4E-8805-A1ACCC32674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52855AE6-BA56-94B4-0048-96D470A2A5E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30947B64-0495-DB99-E2FD-C1F7917471CA}"/>
                </a:ext>
              </a:extLst>
            </p:cNvPr>
            <p:cNvSpPr/>
            <p:nvPr/>
          </p:nvSpPr>
          <p:spPr>
            <a:xfrm>
              <a:off x="2828925" y="282892"/>
              <a:ext cx="4585268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F2AA893B-56EA-ED71-3931-C1FDE2C9C7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0" y="432812"/>
            <a:ext cx="3886200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SUMMARY 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AA1DFDD0-4DE0-3398-FD73-CF2E9667F707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6DAC00-20AB-4851-40A1-F3914A076864}"/>
              </a:ext>
            </a:extLst>
          </p:cNvPr>
          <p:cNvSpPr txBox="1"/>
          <p:nvPr/>
        </p:nvSpPr>
        <p:spPr>
          <a:xfrm>
            <a:off x="875383" y="1444323"/>
            <a:ext cx="7093609" cy="49859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imported successfully into Google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52 missing values were handled using median imputation.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duplicate records were found.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outliers were identified using Box Plot and IQR.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Detected outliers were retained after examination.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types were checked and verified.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Encoding and scaling were not required for the current analysis.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now ready for further analysis.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2350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59BB5-2B5B-6AEC-23AE-3D9BCEE8E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992CA965-6BE1-582E-6F00-13922A56AEF6}"/>
              </a:ext>
            </a:extLst>
          </p:cNvPr>
          <p:cNvGrpSpPr/>
          <p:nvPr/>
        </p:nvGrpSpPr>
        <p:grpSpPr>
          <a:xfrm>
            <a:off x="2455001" y="155643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9F7A44F9-ACC4-1F0C-7617-74FDEE3E2D4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915E141B-B064-257D-8BE3-0AF1D4EB19B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CF3E0767-8972-2204-8F27-28D064A4E39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041F7BC9-5E66-5DEC-B4F5-257039D389EF}"/>
                </a:ext>
              </a:extLst>
            </p:cNvPr>
            <p:cNvSpPr/>
            <p:nvPr/>
          </p:nvSpPr>
          <p:spPr>
            <a:xfrm>
              <a:off x="2828925" y="282892"/>
              <a:ext cx="4585268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F21628DF-34AE-E30B-C7AB-C3E8E6548F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70972" y="432811"/>
            <a:ext cx="4114800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9CE84674-5F1D-D409-D85F-2763049425D5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FFCC9EC-5D75-476E-66F8-341A3FCA0E66}"/>
              </a:ext>
            </a:extLst>
          </p:cNvPr>
          <p:cNvSpPr txBox="1"/>
          <p:nvPr/>
        </p:nvSpPr>
        <p:spPr>
          <a:xfrm>
            <a:off x="872251" y="1153280"/>
            <a:ext cx="4534817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was performed on the cleaned water-quality dataset.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focuses on the major parameters: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pH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Turbidity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Dissolved Oxygen (DO)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Total Dissolved Solids (TDS)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Water Quality Index (WQI) </a:t>
            </a: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 statistics were used to understand the distribution and variation of these parameters. 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Histograms were used to study the distribution of individual parameters. 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 between important parameters were examined using scatter plots and correlation analysis.</a:t>
            </a:r>
          </a:p>
          <a:p>
            <a:pPr lvl="0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E017FE-6A14-E99E-4F32-968146E84F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8437" y="1981200"/>
            <a:ext cx="4284402" cy="3657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7784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31F87-775E-B6E0-3482-AF1B0D8E4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9D410972-6AB2-43C3-6261-3D79C9C5DF8F}"/>
              </a:ext>
            </a:extLst>
          </p:cNvPr>
          <p:cNvGrpSpPr/>
          <p:nvPr/>
        </p:nvGrpSpPr>
        <p:grpSpPr>
          <a:xfrm>
            <a:off x="2455001" y="155643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B3551DA4-FDED-BF96-A231-19F4AA79DB9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568C9AA4-90B4-EAAE-FEBF-DBA2E613D89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F153A978-0178-DE46-5D7E-4F07E11FCBB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AEBF41B5-10CB-2602-C2CC-1FC196A29526}"/>
                </a:ext>
              </a:extLst>
            </p:cNvPr>
            <p:cNvSpPr/>
            <p:nvPr/>
          </p:nvSpPr>
          <p:spPr>
            <a:xfrm>
              <a:off x="2828925" y="282892"/>
              <a:ext cx="4585268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98E50909-0BA6-D753-4831-5107F8E31E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33592" y="418787"/>
            <a:ext cx="4114800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 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55781C0B-311C-3D25-43D4-2377E2D9F01A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C684C2B-8EC3-6947-65EF-3E15B7BC90EA}"/>
              </a:ext>
            </a:extLst>
          </p:cNvPr>
          <p:cNvSpPr txBox="1"/>
          <p:nvPr/>
        </p:nvSpPr>
        <p:spPr>
          <a:xfrm>
            <a:off x="875383" y="1444323"/>
            <a:ext cx="4534817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 statistical analysis was performed on the cleaned dataset.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parameters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include pH, Turbidity, DO, TDS, and WQI. 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measures such as Mean, Standard Deviation, Minimum, Maximum, and Quartiles were examined. 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helps understand the variation and distribution of water-quality parameters. 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statistics provide a numerical summary for further analysis and visualization.</a:t>
            </a:r>
          </a:p>
          <a:p>
            <a:pPr lvl="0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289400-30D5-AF1A-AACF-29995A976B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1" y="1905000"/>
            <a:ext cx="42672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942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11D38-9CA0-46B9-D6A5-9CE25AADB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73549E07-9B35-2606-2D8C-C5D5EC5CFC5D}"/>
              </a:ext>
            </a:extLst>
          </p:cNvPr>
          <p:cNvGrpSpPr/>
          <p:nvPr/>
        </p:nvGrpSpPr>
        <p:grpSpPr>
          <a:xfrm>
            <a:off x="2455001" y="155643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80BEDFBC-4AE2-EF69-9FC2-E3105656D48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1D9FAE7E-3102-D03C-3B66-4C36539597B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C2329455-8FA1-7ED2-E8C4-9CBE8DD035C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AF4FF924-2345-AAC8-36FD-39E76FA9F31F}"/>
                </a:ext>
              </a:extLst>
            </p:cNvPr>
            <p:cNvSpPr/>
            <p:nvPr/>
          </p:nvSpPr>
          <p:spPr>
            <a:xfrm>
              <a:off x="2828925" y="282892"/>
              <a:ext cx="4585268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33ED1841-5DD9-DC73-7D76-4302E39BEB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43200" y="418787"/>
            <a:ext cx="4805192" cy="26289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QUALITY ANALYSIS BY LOCATION 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9D5D750D-400F-D38B-ECCF-9822BE0FA2B2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1F60BC4-0AB8-27B2-879E-EFB6AF83125D}"/>
              </a:ext>
            </a:extLst>
          </p:cNvPr>
          <p:cNvSpPr txBox="1"/>
          <p:nvPr/>
        </p:nvSpPr>
        <p:spPr>
          <a:xfrm>
            <a:off x="242599" y="1098462"/>
            <a:ext cx="4329401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Water-quality conditions were compared across different sampling locations. 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observations from 12 sampling locations. 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WQI was calculated for each sampling site. 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bar chart was used to visualize the variation in WQI across locations. 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comparison helps identify differences in overall water-quality conditions between sampling sites.</a:t>
            </a:r>
          </a:p>
          <a:p>
            <a:pPr lvl="0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5AE7C3-736F-1C39-92A9-ADC051FEFF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4272" y="4152526"/>
            <a:ext cx="5273429" cy="34737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5D5186B-63E5-867A-949A-4818EF831D3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1247" y="1828378"/>
            <a:ext cx="4539478" cy="22252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CFE61A-0363-FD69-CD98-D7816C6737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7006" y="982639"/>
            <a:ext cx="5103904" cy="74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7022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77661-EC2A-071D-1EC1-44E7C003C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84DC1C91-F81D-402A-180D-C8E42CD8800C}"/>
              </a:ext>
            </a:extLst>
          </p:cNvPr>
          <p:cNvGrpSpPr/>
          <p:nvPr/>
        </p:nvGrpSpPr>
        <p:grpSpPr>
          <a:xfrm>
            <a:off x="2455001" y="155643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DBE6A814-D853-5B13-9B6C-01DC0C6FEA2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EE5ECDA2-72A9-5D37-FCD1-4554AAA0E0C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3D671436-3D38-BB53-4BA6-98EE7394DC4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FE7C8CAB-C750-5BA8-13A1-42682B8882A6}"/>
                </a:ext>
              </a:extLst>
            </p:cNvPr>
            <p:cNvSpPr/>
            <p:nvPr/>
          </p:nvSpPr>
          <p:spPr>
            <a:xfrm>
              <a:off x="2828925" y="282892"/>
              <a:ext cx="4585268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BD234523-BE6F-A7FD-913C-2A978CD918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43200" y="434152"/>
            <a:ext cx="5562600" cy="32444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QUALITY CLASSIFICATION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A7FB6A16-E8C4-C439-DD11-C764393CB0F8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724E61C-3415-CD72-E0F1-DE837FD1B80D}"/>
              </a:ext>
            </a:extLst>
          </p:cNvPr>
          <p:cNvSpPr txBox="1"/>
          <p:nvPr/>
        </p:nvSpPr>
        <p:spPr>
          <a:xfrm>
            <a:off x="331015" y="840708"/>
            <a:ext cx="4240985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provides a Water Quality classification for the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samples. 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classification was used to understand the overall condition of the water. 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samples in each water-quality category was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bar chart can be used to visualize the distribution of different categories. 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WQI (Water Quality Index) was also considered along with the classification for overall analysis</a:t>
            </a:r>
            <a:r>
              <a:rPr lang="en-IN" sz="2000" dirty="0"/>
              <a:t>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DEE93B-1662-99B3-8300-3938C2DE1C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0905" y="3690514"/>
            <a:ext cx="5342123" cy="40247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E35438-7BD2-6E25-4E52-03D999A200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0905" y="1153118"/>
            <a:ext cx="4999153" cy="226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8024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7DB4D-BDE4-2589-E239-5AC068748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DAE1B74D-7532-6636-3200-DAC518370E33}"/>
              </a:ext>
            </a:extLst>
          </p:cNvPr>
          <p:cNvGrpSpPr/>
          <p:nvPr/>
        </p:nvGrpSpPr>
        <p:grpSpPr>
          <a:xfrm>
            <a:off x="2455001" y="155643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C5B8A520-1234-41AD-2F28-BE87BFBBB7F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277C137E-F7A6-D03D-69E9-09B547193CA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6F8AD214-CF44-8360-55E6-279066182C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2938B8C4-88E4-A9BD-02CF-B0F6DB2A84A3}"/>
                </a:ext>
              </a:extLst>
            </p:cNvPr>
            <p:cNvSpPr/>
            <p:nvPr/>
          </p:nvSpPr>
          <p:spPr>
            <a:xfrm>
              <a:off x="2828925" y="282892"/>
              <a:ext cx="4585268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0A738F72-83DD-F9F9-D325-9CFA578124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97554" y="430762"/>
            <a:ext cx="5562600" cy="32444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 DISTRIBUTION ANALYSIS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FAFE4315-E03E-22AF-34D5-BB39B30C9EE3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4AF501C-4640-FAE2-6CAC-68C2DA01A0DF}"/>
              </a:ext>
            </a:extLst>
          </p:cNvPr>
          <p:cNvSpPr txBox="1"/>
          <p:nvPr/>
        </p:nvSpPr>
        <p:spPr>
          <a:xfrm>
            <a:off x="699799" y="1068833"/>
            <a:ext cx="3620417" cy="621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 is an important parameter for understanding the nature of water. 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histogram was used to study the distribution of pH values. 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graph shows how the pH observations are distributed across the dataset. 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identify the common range and variation of pH values. 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unusual values can also be observed from the distribution.</a:t>
            </a:r>
          </a:p>
          <a:p>
            <a:pPr lvl="0"/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9714121-25E9-6923-2ECE-EE5AA17623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741" y="3292407"/>
            <a:ext cx="5562601" cy="4343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5DA6412-7F86-F28A-6F86-AB9293687E5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1863" y="1199404"/>
            <a:ext cx="3215919" cy="184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8316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65E4B-B81B-3ECE-055D-B23364FA5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84A2437F-76E7-0DB7-318E-79EBC3A89A30}"/>
              </a:ext>
            </a:extLst>
          </p:cNvPr>
          <p:cNvGrpSpPr/>
          <p:nvPr/>
        </p:nvGrpSpPr>
        <p:grpSpPr>
          <a:xfrm>
            <a:off x="2455001" y="155643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26101E10-2950-B0F6-6692-DDD6E67C814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E6A6D6EB-B5CA-D800-3584-BBE069DCA93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11C6A789-C201-DEE7-F9EC-13920974E4B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8DE6F85D-9F9D-9E80-902C-7F7AF17BCFC7}"/>
                </a:ext>
              </a:extLst>
            </p:cNvPr>
            <p:cNvSpPr/>
            <p:nvPr/>
          </p:nvSpPr>
          <p:spPr>
            <a:xfrm>
              <a:off x="2828925" y="282892"/>
              <a:ext cx="4585268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657B9880-FF87-DC58-4E4C-55E5ABBFC6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81400" y="416625"/>
            <a:ext cx="5562600" cy="32444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TDS VS pH ANALYSIS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78FC8381-FEDF-B6BF-6DF8-DE333174EBDF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BFB919C-73AB-A265-FDD2-FAE097E75640}"/>
              </a:ext>
            </a:extLst>
          </p:cNvPr>
          <p:cNvSpPr txBox="1"/>
          <p:nvPr/>
        </p:nvSpPr>
        <p:spPr>
          <a:xfrm>
            <a:off x="699799" y="1068833"/>
            <a:ext cx="3620417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scatter plot was used to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relationship between TDS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TDS (Total Dissolved Solids) represents the amount of dissolved substances present in water. 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 indicates the acidic or alkaline nature of water. 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scatter plot helps observe the pattern and variation between these two parameters. 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relationship can be examined based on how the data points are distributed.</a:t>
            </a:r>
          </a:p>
          <a:p>
            <a:pPr lvl="0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02675C-968A-4DA0-A301-B58970D91C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216" y="3453969"/>
            <a:ext cx="5562600" cy="41913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F173BB-CBDB-6B01-1B97-50210F8B4BF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9067" y="1326504"/>
            <a:ext cx="4823878" cy="198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356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F3C4E-E64D-AD85-77C8-9CFA70990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7655338A-C73B-602A-E4F2-F3779F208707}"/>
              </a:ext>
            </a:extLst>
          </p:cNvPr>
          <p:cNvGrpSpPr/>
          <p:nvPr/>
        </p:nvGrpSpPr>
        <p:grpSpPr>
          <a:xfrm>
            <a:off x="2455001" y="155643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0D0FF719-D1CD-E153-344A-1F427F16666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E309DE9A-4BB7-69F9-2A1A-FF7D5404093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487DEC80-EECF-FD97-A0FC-0ADA8A5F66D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31A946BC-09DA-ACF8-1A93-D5F3BCF95E3E}"/>
                </a:ext>
              </a:extLst>
            </p:cNvPr>
            <p:cNvSpPr/>
            <p:nvPr/>
          </p:nvSpPr>
          <p:spPr>
            <a:xfrm>
              <a:off x="2828925" y="282892"/>
              <a:ext cx="4585268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AA5A11CF-3E92-F027-FDE6-D9AD035837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81400" y="406993"/>
            <a:ext cx="5562600" cy="32444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RESULTS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4F722CCF-A841-BEB4-D0F7-A6B4DA08F6EF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E958832-5C53-EB3B-8C1B-08BB9ADA0202}"/>
              </a:ext>
            </a:extLst>
          </p:cNvPr>
          <p:cNvSpPr txBox="1"/>
          <p:nvPr/>
        </p:nvSpPr>
        <p:spPr>
          <a:xfrm>
            <a:off x="331015" y="840708"/>
            <a:ext cx="4012385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Water-quality parameters showed variation across the dataset. 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pH, Turbidity, DO, and TDS were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statistical methods and visualizations.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quality was compared across different sampling locations using WQI. 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pH histogram helped understand the distribution of pH values. 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TDS vs pH scatter plot helped observe the relationship between the two parameters. 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Quality classification provided an overall view of sample conditions.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4A1FA99-73D1-11DB-5729-36960A680F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5655" y="1015019"/>
            <a:ext cx="5563082" cy="203298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2B3A2EF-E516-CBCD-506F-6762C2073C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0270" y="3536665"/>
            <a:ext cx="2512684" cy="355122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A045B93-4752-7EA6-F81F-F14FF591E0E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9491" y="3581400"/>
            <a:ext cx="3106937" cy="355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157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65E9E-6602-A656-6A92-18192454F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1B93A928-EA60-73D2-FD88-44BFDCAAC0CA}"/>
              </a:ext>
            </a:extLst>
          </p:cNvPr>
          <p:cNvGrpSpPr/>
          <p:nvPr/>
        </p:nvGrpSpPr>
        <p:grpSpPr>
          <a:xfrm>
            <a:off x="2455001" y="155643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B25B3E78-70F3-B9F3-0680-3241CFF9CBC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678570E3-8653-CCD6-FF65-8DCC6100889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1A35BB74-4C38-9730-5ED4-B79D7F2AE70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F84A089E-46EC-4F94-4DD8-3895266E22E2}"/>
                </a:ext>
              </a:extLst>
            </p:cNvPr>
            <p:cNvSpPr/>
            <p:nvPr/>
          </p:nvSpPr>
          <p:spPr>
            <a:xfrm>
              <a:off x="2828925" y="282892"/>
              <a:ext cx="4585268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B469C67F-A0C9-EFAA-7752-B6254DDB71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19400" y="429276"/>
            <a:ext cx="5562600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ENHANCEMENTS</a:t>
            </a:r>
            <a:b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60AF3EB9-D18B-221C-D0A2-A82E67707DE0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73E2B23-9622-4E26-69CB-53DF0D59D814}"/>
              </a:ext>
            </a:extLst>
          </p:cNvPr>
          <p:cNvSpPr txBox="1"/>
          <p:nvPr/>
        </p:nvSpPr>
        <p:spPr>
          <a:xfrm>
            <a:off x="699799" y="1068833"/>
            <a:ext cx="7987001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water-quality dataset was successfully cleaned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and duplicate records were handled.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parameters such as pH, Turbidity, DO, TDS, and WQI were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 and visualizations helped identify variations and patterns.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Location-wise and classification-based analysis provided an overall understanding of water quality. 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Machine Learning model for water-quality prediction.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water-quality conditions using historical parameters.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more sampling locations and additional datasets.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interactive dashboard for easier monitoring and analysis. </a:t>
            </a:r>
          </a:p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71129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5B32A-9B14-7FA0-D59B-AF32355B7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3352800"/>
            <a:ext cx="4038600" cy="738664"/>
          </a:xfrm>
        </p:spPr>
        <p:txBody>
          <a:bodyPr/>
          <a:lstStyle/>
          <a:p>
            <a:r>
              <a:rPr lang="en-IN" sz="4800" dirty="0">
                <a:solidFill>
                  <a:schemeClr val="accent6">
                    <a:lumMod val="75000"/>
                  </a:schemeClr>
                </a:solidFill>
              </a:rPr>
              <a:t>THANK YOU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2A927C3-140A-7ABC-91C2-249562DF33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3703</TotalTime>
  <Words>2220</Words>
  <Application>Microsoft Office PowerPoint</Application>
  <PresentationFormat>Custom</PresentationFormat>
  <Paragraphs>374</Paragraphs>
  <Slides>27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Cambria</vt:lpstr>
      <vt:lpstr>Palatino Linotype</vt:lpstr>
      <vt:lpstr>Times New Roman</vt:lpstr>
      <vt:lpstr>Wingdings</vt:lpstr>
      <vt:lpstr>Office Theme</vt:lpstr>
      <vt:lpstr>Data Analysis Essentials Cornerstone Project First Review</vt:lpstr>
      <vt:lpstr>PowerPoint Presentation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MISSING VALUES HANDLING</vt:lpstr>
      <vt:lpstr>    MISSING VALUES HANDLING</vt:lpstr>
      <vt:lpstr>DUPLICATE RECORD HANDLING</vt:lpstr>
      <vt:lpstr> OUTLIER DETECTION AND HANDLING</vt:lpstr>
      <vt:lpstr>OUTLIER DETECTION AND HANDLING </vt:lpstr>
      <vt:lpstr>DATA TYPES AND PREPROCESSING DECISIONS </vt:lpstr>
      <vt:lpstr>PREPROCESSING SUMMARY </vt:lpstr>
      <vt:lpstr>EXPLORATORY DATA ANALYSIS </vt:lpstr>
      <vt:lpstr>STATISTICAL ANALYSIS </vt:lpstr>
      <vt:lpstr>WATER QUALITY ANALYSIS BY LOCATION </vt:lpstr>
      <vt:lpstr>WATER QUALITY CLASSIFICATION</vt:lpstr>
      <vt:lpstr>pH DISTRIBUTION ANALYSIS</vt:lpstr>
      <vt:lpstr>TDS VS pH ANALYSIS</vt:lpstr>
      <vt:lpstr>ANALYSIS RESULTS</vt:lpstr>
      <vt:lpstr>CONCLUSION &amp; FUTURE ENHANCEMENTS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25B11CS650</cp:lastModifiedBy>
  <cp:revision>59</cp:revision>
  <cp:lastPrinted>2025-10-14T18:21:49Z</cp:lastPrinted>
  <dcterms:created xsi:type="dcterms:W3CDTF">2025-10-10T08:28:06Z</dcterms:created>
  <dcterms:modified xsi:type="dcterms:W3CDTF">2026-09-30T09:11:02Z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